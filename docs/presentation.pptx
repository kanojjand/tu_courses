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Двадцать минут — нет, десять. Расскажу: зачем это нужно, что сделано, чем отличается от готовых решений, и что нужно от вас, чтобы запустить на реальных студентах. Систему можно открыть прямо сейчас и зайти под любой ролью.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Снимаю ощущение «нам продают ещё одну платформу». Система нужна не потому, что модно, а потому что этого требует пункт 61 Типовых правил. Проверяющий приходит и спрашивает: где ваша ИСУО. И сразу главное отличие: обычная система хранит то, что ввёл человек, наша — проверяет введённое по нормативам.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Moodle — это LMS, он про содержание курса. Он не знает про ГОСО, кредиты, циклы дисциплин, ИУП и эдвайзеров — это пришлось бы дописывать плагинами и поддерживать самим. У нас эти понятия не надстройка, а основа модели данных. Мы закрываем не только «как учат», но и «по какой программе учат и чем это заканчивается».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этап делался по одной схеме: сначала правило отдельной проверяемой функцией с тестами, потом хранение, потом экраны, потом проверка на живых данных в браузере, потом документ. Поэтому по каждому этапу есть свой документ, а не только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цифры стоит объяснить. 206 тестов — это не «мы 206 раз потыкали мышкой», а автоматические проверки правил, которые запускаются при каждом изменении программы. Например: студент с оценкой C не получает диплом с отличием. Если завтра кто-то сломает это правило, программа откажется собираться. 92 таблицы — это масштаб предметной области: только на итоговую аттестацию приходится пять таблиц.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ВАЖНЫЙ СЛАЙД. Смысл: система не даёт срезать угол. Преподаватель не опубликует курс, который не посмотрел методист. Администратор — тот, у кого технический доступ ко всему — не может изменить оценку: у него просто нет такого права. Оценку после закрытия ведомости меняет только офис Регистратора и только по решению апелляционной комиссии, и это попадает в журнал. Для руководства это значит: спорную ситуацию всегда можно восстановить.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Слайд, ради которого стоило делать проект именно так. Возьмите второй пункт: сегодня соответствие часов кредитам проверяет человек глазами, по таблице, перед проверкой. Здесь это считается постоянно, и преподаватель видит расхождение в тот момент, когда он его создал, а не за неделю до аккредитации. При этом правила не зашиты намертво: коэффициенты, пороги и число рубежных контролей — настройки, которые правит администратор по решению учёного совета.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тех, кто разбирается: Next.js 15 с отрисовкой на сервере, вся бизнес-логика и все проверки прав на сервере, браузер не решает ничего. PostgreSQL 16, миграции под контролем версий, пароли bcrypt, RLS на всех таблицах. Для остальных: это тот же набор технологий, на котором сделаны крупные коммерческие сервисы. Ничего самописного в фундаменте нет, поэтому систему сможет сопровождать любой грамотный разработчик, а не только автор. Лицензии не нужны — всё открытое.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ограничение говорю прямо и сам, не дожидаясь вопроса. Это не недоработка, а осознанное состояние пилота: сначала показать работающую систему, потом переносить. Формулировка для протокола: на текущей площадке допустима опытная эксплуатация на обезличенных или тестовых данных; для промышленной эксплуатации требуется перенос базы на инфраструктуру в Республике Казахстан.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обязателен. Если не сказать самому — спросят, и это будет выглядеть как попытка скрыть. Главное донести: ничего из списка не блокирует запуск. Учебный процесс можно вести полностью. Прокторинг и антиплагиат — надстройки над экзаменом и дипломной работой, а не условие их проведения.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Разработка доведена до состояния, когда дальше нужны не строчки кода, а управленческие решения. Первое — самое важное: без решения о площадке мы остаёмся в режиме пилота на тестовых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Заканчиваю не словами «спасибо за внимание», а конкретным предложением, по которому можно принять решение прямо на совещании. Если спросят про сроки промышленного запуска — честный ответ: после переноса (неделя) и пилотного семестра, то есть следующий учебный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90428"/>
          </a:solidFill>
          <a:ln w="12700">
            <a:solidFill>
              <a:srgbClr val="F90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9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TASHENEV UNIVERSITY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35608" y="16642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онлайн-обучения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688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Учебный процесс целиком —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плана до диплома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3159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все семь этапов технического задания. Система развёрнута и работает.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349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586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1—7 из 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70248" y="5349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интерфейса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270248" y="5586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· русский · english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5349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Нормативная база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5586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 № 2 · Типовые правила № 595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требование закона, а не пожелание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572768"/>
            <a:ext cx="841248" cy="84124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5727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09928" y="1591056"/>
            <a:ext cx="9914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61 Типовых правил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709928" y="1920240"/>
            <a:ext cx="98233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 обязан иметь информационную систему управления образованием. Вести дистанционное обучение без неё нельзя.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898648"/>
            <a:ext cx="841248" cy="84124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89864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09928" y="2916936"/>
            <a:ext cx="9914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 задаёт содержание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709928" y="3246120"/>
            <a:ext cx="98233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кредитов по циклам дисциплин, перечень обязательных дисциплин, соотношение компонентов.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841248" cy="84124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2245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709928" y="4242816"/>
            <a:ext cx="9914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правила задают процедуру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709928" y="4572000"/>
            <a:ext cx="98233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Продолжительность академического периода, срок апелляции, условия диплома с отличием и допуска к защите.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66928" y="565099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650992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 проекта.  </a:t>
            </a:r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Нормы вынесены не в инструкцию для сотрудника, а в проверки внутри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не «ещё один Moodle»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два разных класса систем. Мы стоим на стыке — и в этом весь смысл.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536192"/>
            <a:ext cx="5120640" cy="2834640"/>
          </a:xfrm>
          <a:prstGeom prst="roundRect">
            <a:avLst>
              <a:gd name="adj" fmla="val 161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1700784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— «как учат»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199339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Moodle, Canvas, Google Classroom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2359152"/>
            <a:ext cx="4535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Курс, модуль, лекция, тест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и работа студента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 мероприятия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 и прогресс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64808" y="1536192"/>
            <a:ext cx="5120640" cy="2834640"/>
          </a:xfrm>
          <a:prstGeom prst="roundRect">
            <a:avLst>
              <a:gd name="adj" fmla="val 161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57416" y="1700784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— «кого и по чему учат»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757416" y="199339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Platonus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2359152"/>
            <a:ext cx="4535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Студент, группа, приказ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план, кредиты, циклы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Ведомость, транскрипт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 и приложение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4709160"/>
            <a:ext cx="11057839" cy="1508760"/>
          </a:xfrm>
          <a:prstGeom prst="roundRect">
            <a:avLst>
              <a:gd name="adj" fmla="val 3636"/>
            </a:avLst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4882896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Courses закрывает обе половины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" y="5230368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техническом задании формулировка точная: не «LMS», а информационная система для реализации образовательных программ — компонент ИСУО. Поэтому в системе 92 таблицы, а не 20: классическая LMS уложилась бы в четверть этого.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этапов, все выполнены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25296" y="1536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584448" y="1536192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права, конструктор курса, тесты, задания, журнал оценок, GPA, ведомости, транскрипт, аудит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176272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2194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Учебные планы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84448" y="2194560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ГОСО, конструктор плана, валидатор соответствия, версии, каталог элективов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2834640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28529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ИУП и регистрация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84448" y="2852928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Группы, академический календарь, окна регистрации, согласование эдвайзером, очередь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3493008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25296" y="3511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584448" y="3511296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занятий, отметки, группа риска, сводка по обучающемуся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151376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41696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Оценивание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584448" y="4169664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Апелляции, перезачёт кредитов, снимки GPA, перевод на курс, диплом с отличием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6928" y="4809744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6928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225296" y="48280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Коммуникации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584448" y="4828032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 группы и дисциплины, адресные объявления, подтверждение прочтения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" y="5468112"/>
            <a:ext cx="420624" cy="420624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225296" y="5486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и защита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3584448" y="5486400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 практики, дневник, комиссии, дипломные работы, допуск, протоколы, дипломы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сделано в цифрах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прототип. Работающая система на реальной базе данных, развёрнутая и проверенная.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27632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1810512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395728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ТЗ выполнено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5396" y="1627632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4852" y="1810512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3614852" y="2395728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 базы данных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23864" y="1627632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3320" y="1810512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43320" y="2395728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экранов, каждый на трёх языках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52331" y="1627632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71787" y="1810512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9271787" y="2395728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 с разными правами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200400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" y="3383280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968496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тестов, все проходят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95396" y="3200400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14852" y="3383280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41 000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3614852" y="3968496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23864" y="3200400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3320" y="3383280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27" name="Text 24"/>
          <p:cNvSpPr txBox="1"/>
          <p:nvPr/>
        </p:nvSpPr>
        <p:spPr>
          <a:xfrm>
            <a:off x="6443320" y="3968496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 сопровождения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052331" y="3200400"/>
            <a:ext cx="2572436" cy="1371600"/>
          </a:xfrm>
          <a:prstGeom prst="roundRect">
            <a:avLst>
              <a:gd name="adj" fmla="val 333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71787" y="3383280"/>
            <a:ext cx="2133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0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271787" y="3968496"/>
            <a:ext cx="21335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 и предупреждений в сборке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5029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Пилотное наполнение — настоящие материалы: план 6В01601 «История» на 240 кредитов (47 позиций, 71 дисциплина) и курс на 3 кредита с 23 элементами содержания.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цикл проходит через шесть ролей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роль не может пройти цикл в одиночку. Разделение обязанностей заложено в права, а не в приказ.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1664208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Методист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938528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учебный план — валидатор ГОСО проверяет объёмы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670048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2596896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Регистратор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2871216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Утверждает план, открывает окно регистрации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602736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529584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3803904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индивидуальный учебный план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4535424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4462272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Эдвайзер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" y="4736592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Согласовывает или возвращает с комментарием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15888" y="1737360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1588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64528" y="1664208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64528" y="1938528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Записывается на поток; нет мест — очередь ожидания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15888" y="2670048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15888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64528" y="2596896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964528" y="2871216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Наполняет курс, методист согласует, затем публикация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415888" y="3602736"/>
            <a:ext cx="365760" cy="365760"/>
          </a:xfrm>
          <a:prstGeom prst="ellipse">
            <a:avLst/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1588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964528" y="3529584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964528" y="3803904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Занятия, посещаемость, оценки → Регистратор закрывает ведомость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415888" y="4535424"/>
            <a:ext cx="365760" cy="365760"/>
          </a:xfrm>
          <a:prstGeom prst="ellipse">
            <a:avLst/>
          </a:prstGeom>
          <a:solidFill>
            <a:srgbClr val="1A1215"/>
          </a:solidFill>
          <a:ln w="12700">
            <a:solidFill>
              <a:srgbClr val="1A121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15888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964528" y="4462272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964528" y="4736592"/>
            <a:ext cx="466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каждое действие в журнале аудита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66928" y="548640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6112" y="548640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системы не может изменить оценку. </a:t>
            </a:r>
            <a:pPr indent="0" marL="0">
              <a:buNone/>
            </a:pPr>
            <a:r>
              <a:rPr lang="en-US" sz="14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него нет такого права. Оценку после закрытия ведомости меняет только офис Регистратора и только по решению комиссии.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система не даст сделать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система хранит введённое. Эта — проверяет по нормативам и отказывает с объяснением причины.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09344"/>
            <a:ext cx="3503066" cy="2011680"/>
          </a:xfrm>
          <a:prstGeom prst="roundRect">
            <a:avLst>
              <a:gd name="adj" fmla="val 227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1792224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066544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Утвердить план с нарушением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51760"/>
            <a:ext cx="30275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Валидатор считает кредиты по циклам и обязательные дисциплины. Нарушение — с номером правила и величиной расхождения.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609344"/>
            <a:ext cx="3503066" cy="2011680"/>
          </a:xfrm>
          <a:prstGeom prst="roundRect">
            <a:avLst>
              <a:gd name="adj" fmla="val 227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2058" y="1792224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КР = 30 Ч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82058" y="2066544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Опубликовать курс с неверным объёмом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4582058" y="2651760"/>
            <a:ext cx="30275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сумма плановых часов не равна кредиты × 30, кнопка публикации не работает.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21701" y="1609344"/>
            <a:ext cx="3503066" cy="2011680"/>
          </a:xfrm>
          <a:prstGeom prst="roundRect">
            <a:avLst>
              <a:gd name="adj" fmla="val 227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9445" y="1792224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НЕДЕЛЬ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359445" y="2066544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слишком короткий семестр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8359445" y="2651760"/>
            <a:ext cx="30275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Семестр — не менее 15 недель, триместр — 10, четверть — 7. Календарь с нарушением не сохраняется.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840480"/>
            <a:ext cx="3503066" cy="2011680"/>
          </a:xfrm>
          <a:prstGeom prst="roundRect">
            <a:avLst>
              <a:gd name="adj" fmla="val 227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4023360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50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4297680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Выдать диплом с отличием не по правилам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804672" y="4882896"/>
            <a:ext cx="30275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условия одновременно; система показывает, какое именно не выполнено.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44314" y="3840480"/>
            <a:ext cx="3503066" cy="2011680"/>
          </a:xfrm>
          <a:prstGeom prst="roundRect">
            <a:avLst>
              <a:gd name="adj" fmla="val 227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82058" y="4023360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82058" y="4297680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Допустить к защите неготового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582058" y="4882896"/>
            <a:ext cx="30275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Кредиты считаются по закрытым ведомостям и оценённым практикам, а не по отметке в карточке.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21701" y="3840480"/>
            <a:ext cx="3503066" cy="2011680"/>
          </a:xfrm>
          <a:prstGeom prst="roundRect">
            <a:avLst>
              <a:gd name="adj" fmla="val 2273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59445" y="4023360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ПЕРЕСДАЧА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359445" y="4297680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Пересдать защиту ради лучшей оценки</a:t>
            </a:r>
            <a:endParaRPr lang="en-US" sz="1550" dirty="0"/>
          </a:p>
        </p:txBody>
      </p:sp>
      <p:sp>
        <p:nvSpPr>
          <p:cNvPr id="30" name="Text 27"/>
          <p:cNvSpPr txBox="1"/>
          <p:nvPr/>
        </p:nvSpPr>
        <p:spPr>
          <a:xfrm>
            <a:off x="8359445" y="4882896"/>
            <a:ext cx="30275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сдача положительной оценки не допускается.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современный веб-стек без экзотики. Ничего не устанавливается на компьютеры — только браузер.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11057839" cy="969264"/>
          </a:xfrm>
          <a:prstGeom prst="roundRect">
            <a:avLst>
              <a:gd name="adj" fmla="val 471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7007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0299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или телефон, установка не нужна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01768" y="1883664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01768" y="1883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 от 360 px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65976" y="1883664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65976" y="1883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языка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330184" y="1883664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0184" y="1883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светлая и тёмная темы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" y="2743200"/>
            <a:ext cx="11057839" cy="969264"/>
          </a:xfrm>
          <a:prstGeom prst="roundRect">
            <a:avLst>
              <a:gd name="adj" fmla="val 4717"/>
            </a:avLst>
          </a:prstGeom>
          <a:solidFill>
            <a:srgbClr val="FEE9EC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28712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32004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отрисовка на сервере, бизнес-логика, проверка прав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01768" y="3054096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01768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65976" y="3054096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65976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330184" y="3054096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30184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994392" y="3054096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94392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· JWT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" y="3913632"/>
            <a:ext cx="11057839" cy="969264"/>
          </a:xfrm>
          <a:prstGeom prst="roundRect">
            <a:avLst>
              <a:gd name="adj" fmla="val 471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" y="4041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" y="43708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таблицы, миграции под контролем версий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01768" y="42245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01768" y="42245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65976" y="42245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65976" y="42245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330184" y="42245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30184" y="42245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на всех таблицах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994392" y="42245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994392" y="42245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приватные бакеты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66928" y="5084064"/>
            <a:ext cx="11057839" cy="969264"/>
          </a:xfrm>
          <a:prstGeom prst="roundRect">
            <a:avLst>
              <a:gd name="adj" fmla="val 471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1248" y="5212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системы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841248" y="55412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изолирован в один модуль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001768" y="53949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01768" y="5394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Platonus — адаптер готов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665976" y="53949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65976" y="5394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с повторами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330184" y="53949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330184" y="5394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Excel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66928" y="626364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стек: PostgreSQL и Node.js. Лицензий платить не нужно, специалисты на рынке есть — университет не привязан к одному подрядчику.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Персональные данные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17320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1892808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8366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1847088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— необратимый хеш bcrypt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404872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3957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50976" y="2359152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ИИН шифруется, показывается маской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291693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29077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" y="2871216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на всех таблицах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429000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419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" y="3383280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работ — только по временным ссылкам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3941064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39319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0976" y="3895344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Согласие на обработку при первом входе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453128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" y="444398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0976" y="4407408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аудита: оценки, апелляции, дипломы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4965192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" y="495604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0976" y="4919472"/>
            <a:ext cx="487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Заголовки безопасности по разделу 6.3 ТЗ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370168" y="1417320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требует решения вуза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370168" y="1847088"/>
            <a:ext cx="5254600" cy="2286000"/>
          </a:xfrm>
          <a:prstGeom prst="roundRect">
            <a:avLst>
              <a:gd name="adj" fmla="val 2000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44488" y="2048256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данных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644488" y="2395728"/>
            <a:ext cx="470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 граждан Республики Казахстан подлежат хранению на территории РК. Сейчас стенд работает на зарубежной инфраструктуре: для пилота на тестовых данных это допустимо, для реального контингента — нет.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644488" y="3547872"/>
            <a:ext cx="470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перенос на сервер университета. Порядок подготовлен.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370168" y="4370832"/>
            <a:ext cx="525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Перенос: 8—9 рабочих дней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370168" y="4736592"/>
            <a:ext cx="525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вуза или казахстанский VPS: 4 ядра, 8 ГБ памяти, 100 ГБ диска. В бизнес-логике нет зависимостей от конкретного облака — база переносится сменой строки подключения.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в системе пока нет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Перенесено за рамки этапов 1—7 по согласованию. Ни один пункт не мешает начать работу.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810512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закупки или внешнего сервиса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286000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Прокторинг — роль заведена, интерфейса нет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907792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907792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Антиплагиат — поле есть, проверка внешняя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529584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529584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Вебинары — нужен сервис видеосвязи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151376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151376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и push — нужен почтовый сервис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70168" y="1810512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решения или доступа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70168" y="2286000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6200" y="2286000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с Platonus — нужен доступ к API вендора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70168" y="2907792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6200" y="2907792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чаты — нужен отдельный сокет-сервер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70168" y="3529584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6200" y="3529584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— сайт с телефона работает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70168" y="4151376"/>
            <a:ext cx="5254600" cy="512064"/>
          </a:xfrm>
          <a:prstGeom prst="roundRect">
            <a:avLst>
              <a:gd name="adj" fmla="val 8929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6200" y="4151376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SCORM, LTI, сертификаты, форумы — следующий этап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5120640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96112" y="5120640"/>
            <a:ext cx="1039947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процесс можно вести полностью — от учебного плана до диплома с приложением.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от руководства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651760"/>
                <a:gridCol w="483717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решает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без этого нельзя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Площадка размещения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Ректорат, служба ИТ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решения — только пилот на тестовых данных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к API Platonus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Ректорат → вендор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Адаптер готов, обмен без доступа не включить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Пилотная программа и группа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Учебный департамент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Нужен один реальный поток от плана до ведомости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Коэффициенты итоговой оценки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Учёный совет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Сейчас типовые; правятся в настройках без разработчика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подачи апелляции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Учебный департамент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дней после закрытия ведомости — настройка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Ответственные по ролям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Деканаты, кафедры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Нужны люди на роли методиста, эдвайзера, регистратора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 сотрудников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Учебный департамент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Руководства написаны, нужен график занятий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5468112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6112" y="5468112"/>
            <a:ext cx="1039947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закончена. </a:t>
            </a:r>
            <a:pPr indent="0" marL="0">
              <a:buNone/>
            </a:pPr>
            <a:r>
              <a:rPr lang="en-US" sz="14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нужны не строчки кода, а управленческие решения. Первое из них — площадка размещения: без него мы остаёмся в режиме пилота на тестовых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05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90428"/>
          </a:solidFill>
          <a:ln w="12700">
            <a:solidFill>
              <a:srgbClr val="F90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95097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116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Запустить пилот на одной образовательной программе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ближайшем академическом периоде — параллельно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переносом на инфраструктуру университета.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4343400"/>
            <a:ext cx="3442106" cy="1463040"/>
          </a:xfrm>
          <a:prstGeom prst="roundRect">
            <a:avLst>
              <a:gd name="adj" fmla="val 3125"/>
            </a:avLst>
          </a:prstGeom>
          <a:solidFill>
            <a:srgbClr val="2A1F23"/>
          </a:solidFill>
          <a:ln w="12700">
            <a:solidFill>
              <a:srgbClr val="3D3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53712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останавливает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01184"/>
            <a:ext cx="29300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параллельно текущей работе, не мешает ей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4794" y="4343400"/>
            <a:ext cx="3442106" cy="1463040"/>
          </a:xfrm>
          <a:prstGeom prst="roundRect">
            <a:avLst>
              <a:gd name="adj" fmla="val 3125"/>
            </a:avLst>
          </a:prstGeom>
          <a:solidFill>
            <a:srgbClr val="2A1F23"/>
          </a:solidFill>
          <a:ln w="12700">
            <a:solidFill>
              <a:srgbClr val="3D32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0826" y="4553712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дешёвое решение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30826" y="4901184"/>
            <a:ext cx="29300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закупок: сервер и администратор на неделю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2661" y="4343400"/>
            <a:ext cx="3442106" cy="1463040"/>
          </a:xfrm>
          <a:prstGeom prst="roundRect">
            <a:avLst>
              <a:gd name="adj" fmla="val 3125"/>
            </a:avLst>
          </a:prstGeom>
          <a:solidFill>
            <a:srgbClr val="2A1F23"/>
          </a:solidFill>
          <a:ln w="12700">
            <a:solidFill>
              <a:srgbClr val="3D3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8693" y="4553712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главный ответ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38693" y="4901184"/>
            <a:ext cx="29300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 ли преподавателям — это проверяется только на живой группе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D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Courses</dc:title>
  <dc:subject>PptxGenJS Presentation</dc:subject>
  <dc:creator>Tashenev University</dc:creator>
  <cp:lastModifiedBy>Tashenev University</cp:lastModifiedBy>
  <cp:revision>1</cp:revision>
  <dcterms:created xsi:type="dcterms:W3CDTF">2026-09-09T10:02:31Z</dcterms:created>
  <dcterms:modified xsi:type="dcterms:W3CDTF">2026-09-09T10:02:31Z</dcterms:modified>
</cp:coreProperties>
</file>