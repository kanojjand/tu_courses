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Открываю коротко: это система для дистанционного обучения, которую мы построили по требованиям ГОСО и Типовых правил. Главное её отличие я покажу на третьем слайде — нормы внутри системы работают как проверки, а не лежат в инструкции. Займу семь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здесь — снять ощущение «нам продают ещё одну платформу». Система нужна не потому, что модно, а потому что пункт 61 Типовых правил этого требует. Проверяющий приходит и спрашивает: где ваша информационная система управления образованием.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ГЛАВНЫЙ СЛАЙД. Обычная система хранит то, что ввёл человек. Наша — сверяет введённое с нормативом и не даёт нарушить, а если нарушение есть, показывает какое именно и на сколько. Возьмите второй пункт: сегодня соответствие часов кредитам проверяет человек глазами, по таблице, перед проверкой. Здесь это считается постоянно, и преподаватель видит расхождение в тот момент, когда он его создал, а не за неделю до аккредитации. И это не «зашито намертво»: коэффициенты и пороги — настройки, которые меняет администратор по решению учёного совета, без разработчика.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перечисляю подряд — называю три-четыре, остальное на слайде. Если спросят про готовность: система развёрнута, её можно открыть прямо сейчас и зайти под любой ролью. Это не макет.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 в нижней врезке — произнести её отдельно и медленно. Администратор системы, человек с полным техническим доступом, не может изменить оценку: у него нет такого права. Оценку после закрытия ведомости меняет только офис Регистратора и только по решению апелляционной комиссии, и это попадает в журнал аудита. Для руководства это значит: спорную ситуацию всегда можно восстановить.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тех, кому это ни о чём не говорит: система работает в браузере, ничего не нужно устанавливать ни преподавателям, ни студентам. Про размещение данных говорю сам, не дожидаясь вопроса: это не недоработка, а осознанное состояние пилота. Сначала показать работающую систему, потом переносить. Формулировка для протокола: на текущей площадке допустима опытная эксплуатация на обезличенных или тестовых данных; для промышленной требуется перенос базы в Казахстан.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Заканчиваю коротко: система работает, следующий шаг — пилот. Дальше говорю то, что считаю нужным попросить, своими словами — на слайде этого специально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37160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F90428"/>
          </a:solidFill>
          <a:ln w="12700">
            <a:solidFill>
              <a:srgbClr val="F904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371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9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TASHENEV UNIVERSITY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35608" y="16642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9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онлайн-обучения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обучения,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построенная по нормативам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37083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ГОСО и Типовых правил заложены в систему как проверки, а не как инструкция для сотрудника.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349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0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Нормативная база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5869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ГОСО № 2 · Типовые правила № 595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70248" y="5349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0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Выполнено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270248" y="55869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1—7 технического задания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73568" y="5349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0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 интерфейса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973568" y="55869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қазақша · русский · english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это нужно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1572768"/>
            <a:ext cx="841248" cy="84124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57276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09928" y="1591056"/>
            <a:ext cx="9914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61 Типовых правил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709928" y="1920240"/>
            <a:ext cx="98233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 обязан иметь информационную систему управления образованием. Вести дистанционное обучение без неё нельзя.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898648"/>
            <a:ext cx="841248" cy="84124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289864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ГОСО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709928" y="2916936"/>
            <a:ext cx="9914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Норматив задаёт содержание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709928" y="3246120"/>
            <a:ext cx="98233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кредитов по циклам дисциплин, обязательные дисциплины, соотношение компонентов образовательной программы.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841248" cy="84124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42245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595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709928" y="4242816"/>
            <a:ext cx="9914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Типовые правила задают процедуру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709928" y="4572000"/>
            <a:ext cx="98233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Продолжительность академического периода, порядок апелляции, условия диплома с отличием и допуска к аттестации.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66928" y="5650992"/>
            <a:ext cx="11057839" cy="713232"/>
          </a:xfrm>
          <a:prstGeom prst="roundRect">
            <a:avLst>
              <a:gd name="adj" fmla="val 7692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5650992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сделали иначе.  </a:t>
            </a:r>
            <a:pPr indent="0" marL="0">
              <a:buNone/>
            </a:pPr>
            <a:r>
              <a:rPr lang="en-US" sz="14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Нормы вынесены не в инструкцию для сотрудника, а в проверки внутри системы.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Нормативы проверяет система, а не человек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" y="932688"/>
            <a:ext cx="10490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правило — не текст в регламенте, а проверка, которую нельзя обойти.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609344"/>
            <a:ext cx="3503066" cy="1773936"/>
          </a:xfrm>
          <a:prstGeom prst="roundRect">
            <a:avLst>
              <a:gd name="adj" fmla="val 2577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" y="1773936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ГОСО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02996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кредитов по циклам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596896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считает кредиты по циклам ООД, БД, ПД и сверяет с нормативом программы.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609344"/>
            <a:ext cx="3503066" cy="1773936"/>
          </a:xfrm>
          <a:prstGeom prst="roundRect">
            <a:avLst>
              <a:gd name="adj" fmla="val 2577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2058" y="1773936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ГОСО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82058" y="202996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Обязательные дисциплины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4582058" y="2596896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наличие обязательных дисциплин и их объём в учебном плане.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21701" y="1609344"/>
            <a:ext cx="3503066" cy="1773936"/>
          </a:xfrm>
          <a:prstGeom prst="roundRect">
            <a:avLst>
              <a:gd name="adj" fmla="val 2577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9445" y="1773936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КРЕДИТ = 30 ЧАСОВ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359445" y="202996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учебного курса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8359445" y="2596896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плановых академических часов должна равняться кредиты × 30. Иначе курс не публикуется.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3584448"/>
            <a:ext cx="3503066" cy="1773936"/>
          </a:xfrm>
          <a:prstGeom prst="roundRect">
            <a:avLst>
              <a:gd name="adj" fmla="val 2577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" y="3749040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595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04672" y="4005072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Продолжительность периода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804672" y="4572000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Семестр — не менее 15 недель, триместр — 10, четверть — 7. Календарь с нарушением не сохраняется.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344314" y="3584448"/>
            <a:ext cx="3503066" cy="1773936"/>
          </a:xfrm>
          <a:prstGeom prst="roundRect">
            <a:avLst>
              <a:gd name="adj" fmla="val 2577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82058" y="3749040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50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582058" y="4005072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 с отличием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582058" y="4572000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условия одновременно: GPA, оценки, итоговая аттестация, отсутствие пересдач.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21701" y="3584448"/>
            <a:ext cx="3503066" cy="1773936"/>
          </a:xfrm>
          <a:prstGeom prst="roundRect">
            <a:avLst>
              <a:gd name="adj" fmla="val 2577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59445" y="3749040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АТТЕСТАЦИЯ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359445" y="4005072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Допуск к защите</a:t>
            </a:r>
            <a:endParaRPr lang="en-US" sz="1550" dirty="0"/>
          </a:p>
        </p:txBody>
      </p:sp>
      <p:sp>
        <p:nvSpPr>
          <p:cNvPr id="30" name="Text 27"/>
          <p:cNvSpPr txBox="1"/>
          <p:nvPr/>
        </p:nvSpPr>
        <p:spPr>
          <a:xfrm>
            <a:off x="8359445" y="4572000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Освоенные кредиты считаются по закрытым ведомостям и завершённым практикам, а не по отметке.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66928" y="5687568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6112" y="5687568"/>
            <a:ext cx="1039947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автоматических проверок </a:t>
            </a:r>
            <a:pPr indent="0" marL="0">
              <a:buNone/>
            </a:pPr>
            <a:r>
              <a:rPr lang="en-US" sz="14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следят за этими правилами при каждом изменении программы. Сломать правило незаметно нельзя.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уже работает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" y="932688"/>
            <a:ext cx="10490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модулей, развёрнуты и проверены на демонстрационных данных.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627632"/>
            <a:ext cx="5391760" cy="896112"/>
          </a:xfrm>
          <a:prstGeom prst="roundRect">
            <a:avLst>
              <a:gd name="adj" fmla="val 5102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929384"/>
            <a:ext cx="292608" cy="29260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202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04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1773936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Учебные планы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2066544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рабочего плана и проверка по ГОСО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33008" y="1627632"/>
            <a:ext cx="5391760" cy="896112"/>
          </a:xfrm>
          <a:prstGeom prst="roundRect">
            <a:avLst>
              <a:gd name="adj" fmla="val 5102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89040" y="1929384"/>
            <a:ext cx="292608" cy="29260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89040" y="19202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04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927952" y="1773936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Индивидуальный план студента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927952" y="2066544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дисциплин, согласование эдвайзером, запись на потоки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2670048"/>
            <a:ext cx="5391760" cy="896112"/>
          </a:xfrm>
          <a:prstGeom prst="roundRect">
            <a:avLst>
              <a:gd name="adj" fmla="val 5102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2971800"/>
            <a:ext cx="292608" cy="29260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296265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04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261872" y="2816352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Курсы и содержание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61872" y="3108960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Модули, материалы, тесты шести типов, задания с файлами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33008" y="2670048"/>
            <a:ext cx="5391760" cy="896112"/>
          </a:xfrm>
          <a:prstGeom prst="roundRect">
            <a:avLst>
              <a:gd name="adj" fmla="val 5102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89040" y="2971800"/>
            <a:ext cx="292608" cy="29260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89040" y="296265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04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927952" y="2816352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Посещаемость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927952" y="3108960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занятий, отметки, группа риска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3712464"/>
            <a:ext cx="5391760" cy="896112"/>
          </a:xfrm>
          <a:prstGeom prst="roundRect">
            <a:avLst>
              <a:gd name="adj" fmla="val 5102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" y="4014216"/>
            <a:ext cx="292608" cy="29260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400507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04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261872" y="3858768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Оценки и GPA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261872" y="4151376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Рубежные контроли, экзамен, ведомости, транскрипт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33008" y="3712464"/>
            <a:ext cx="5391760" cy="896112"/>
          </a:xfrm>
          <a:prstGeom prst="roundRect">
            <a:avLst>
              <a:gd name="adj" fmla="val 5102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89040" y="4014216"/>
            <a:ext cx="292608" cy="29260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89040" y="400507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04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927952" y="3858768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Апелляции и перезачёт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927952" y="4151376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Пересмотр оценки комиссией, перезачёт кредитов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66928" y="4754880"/>
            <a:ext cx="5391760" cy="896112"/>
          </a:xfrm>
          <a:prstGeom prst="roundRect">
            <a:avLst>
              <a:gd name="adj" fmla="val 5102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2960" y="5056632"/>
            <a:ext cx="292608" cy="29260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22960" y="504748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04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1261872" y="4901184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и аттестация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261872" y="5193792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Базы практики, дневник, комиссии, протоколы защиты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233008" y="4754880"/>
            <a:ext cx="5391760" cy="896112"/>
          </a:xfrm>
          <a:prstGeom prst="roundRect">
            <a:avLst>
              <a:gd name="adj" fmla="val 5102"/>
            </a:avLst>
          </a:prstGeom>
          <a:solidFill>
            <a:srgbClr val="FBF7F8"/>
          </a:solidFill>
          <a:ln w="12700">
            <a:solidFill>
              <a:srgbClr val="EBDFE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89040" y="5056632"/>
            <a:ext cx="292608" cy="292608"/>
          </a:xfrm>
          <a:prstGeom prst="ellipse">
            <a:avLst/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489040" y="504748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04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927952" y="4901184"/>
            <a:ext cx="447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Коммуникации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6927952" y="5193792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 группы и дисциплины, адресные объявления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каждого своё рабочее место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" y="932688"/>
            <a:ext cx="10490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ролей. Права выданы под задачу, а не «всем всё».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6325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56A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56A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 в системе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Студент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Выбирает дисциплины, учится, видит оценки и посещаемость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Преподаватель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Собирает курс, ведёт занятия и журнал, выставляет оценки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Эдвайзер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Согласовывает учебные планы подопечных, следит за успеваемостью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Методист кафедры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Ведёт учебные планы, согласовывает содержание курсов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Офис Регистратора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Календарь, группы, ведомости, апелляции, аттестация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Администратор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Учётные записи, справочники, настройки, журнал аудита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54864" marB="54864" anchor="ctr">
                    <a:lnL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07492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EE9EC"/>
          </a:solidFill>
          <a:ln w="12700">
            <a:solidFill>
              <a:srgbClr val="FEE9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96112" y="5074920"/>
            <a:ext cx="103994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0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системы не может изменить оценку. </a:t>
            </a:r>
            <a:pPr indent="0" marL="0">
              <a:buNone/>
            </a:pPr>
            <a:r>
              <a:rPr lang="en-US" sz="14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Оценку после закрытия ведомости меняет только офис Регистратора и только по решению комиссии. Каждое изменение попадает в журнал аудита.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70426"/>
          </a:solidFill>
          <a:ln w="12700">
            <a:solidFill>
              <a:srgbClr val="E704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329184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устроено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63040"/>
            <a:ext cx="525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66928" y="1956816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94767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1901952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браузере — устанавливать ничего не нужно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505456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249631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50976" y="2450592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телефона тоже: интерфейс подстраивается под экран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3054096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304495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" y="2999232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языка: казахский, русский, английский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3602736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" y="359359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50976" y="3547872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и ИИН защищены, доступ к ИИН — у двух ролей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4151376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414223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0976" y="4096512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изменения оценок пишутся в журнал аудита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700016"/>
            <a:ext cx="237744" cy="237744"/>
          </a:xfrm>
          <a:prstGeom prst="ellipse">
            <a:avLst/>
          </a:prstGeom>
          <a:solidFill>
            <a:srgbClr val="E4F3EC"/>
          </a:solidFill>
          <a:ln w="12700">
            <a:solidFill>
              <a:srgbClr val="E4F3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6928" y="4690872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0976" y="4645152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технологии — лицензии платить не нужно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370168" y="1463040"/>
            <a:ext cx="525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6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важно учесть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370168" y="1901952"/>
            <a:ext cx="5254600" cy="2194560"/>
          </a:xfrm>
          <a:prstGeom prst="roundRect">
            <a:avLst>
              <a:gd name="adj" fmla="val 2083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44488" y="2103120"/>
            <a:ext cx="470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данных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644488" y="2450592"/>
            <a:ext cx="470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Персональные данные граждан Казахстана подлежат хранению на территории РК. Сейчас система работает на зарубежной площадке: для пилота на тестовых данных это допустимо, для реального контингента — нет.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644488" y="3566160"/>
            <a:ext cx="470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на собственный сервер занимает 8—9 рабочих дней.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370168" y="4334256"/>
            <a:ext cx="525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пока нет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370168" y="4700016"/>
            <a:ext cx="525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6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Прокторинга, антиплагиата, вебинаров и обмена с Platonus — для них нужны внешние сервисы или доступ от вендора. Учебный процесс это вести не мешает.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601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90428"/>
          </a:solidFill>
          <a:ln w="12700">
            <a:solidFill>
              <a:srgbClr val="F904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33856" y="90525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Готово к пилоту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развёрнута и работает.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Следующий шаг — одна программа, одна группа,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семестр.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4206240"/>
            <a:ext cx="3442106" cy="1554480"/>
          </a:xfrm>
          <a:prstGeom prst="roundRect">
            <a:avLst>
              <a:gd name="adj" fmla="val 2941"/>
            </a:avLst>
          </a:prstGeom>
          <a:solidFill>
            <a:srgbClr val="2A1F23"/>
          </a:solidFill>
          <a:ln w="12700">
            <a:solidFill>
              <a:srgbClr val="3D32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25696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0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закупается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73168"/>
            <a:ext cx="293004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технологии, лицензии платить не нужно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4794" y="4206240"/>
            <a:ext cx="3442106" cy="1554480"/>
          </a:xfrm>
          <a:prstGeom prst="roundRect">
            <a:avLst>
              <a:gd name="adj" fmla="val 2941"/>
            </a:avLst>
          </a:prstGeom>
          <a:solidFill>
            <a:srgbClr val="2A1F23"/>
          </a:solidFill>
          <a:ln w="12700">
            <a:solidFill>
              <a:srgbClr val="3D32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0826" y="4425696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0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мешает текущей работе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30826" y="4773168"/>
            <a:ext cx="293004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идёт параллельно, ничего не останавливая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2661" y="4206240"/>
            <a:ext cx="3442106" cy="1554480"/>
          </a:xfrm>
          <a:prstGeom prst="roundRect">
            <a:avLst>
              <a:gd name="adj" fmla="val 2941"/>
            </a:avLst>
          </a:prstGeom>
          <a:solidFill>
            <a:srgbClr val="2A1F23"/>
          </a:solidFill>
          <a:ln w="12700">
            <a:solidFill>
              <a:srgbClr val="3D32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8693" y="4425696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0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живых данных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38693" y="4773168"/>
            <a:ext cx="293004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 — удобно ли преподавателям — решается только на реальной группе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053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D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 и показать систему вживую.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 Courses</dc:title>
  <dc:subject>PptxGenJS Presentation</dc:subject>
  <dc:creator>Tashenev University</dc:creator>
  <cp:lastModifiedBy>Tashenev University</cp:lastModifiedBy>
  <cp:revision>1</cp:revision>
  <dcterms:created xsi:type="dcterms:W3CDTF">2026-09-10T03:44:46Z</dcterms:created>
  <dcterms:modified xsi:type="dcterms:W3CDTF">2026-09-10T03:44:46Z</dcterms:modified>
</cp:coreProperties>
</file>